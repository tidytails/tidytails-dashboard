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66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AUTONOMY, MAINTAINED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Seed Round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01 / COMPANY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infrastructure layer for AV fleet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MOTRA is the infrastructure layer for autonomous vehicle fleet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We deploy a gig-powered network of mobile technicians to clean and service robotaxis on-location, on-demand — keeping fleets running 24/7.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0972800" cy="91440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Think DoorDash for fleet maintenance — invisible, essential,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02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maintenance bottleneck.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Robotaxis run 15+ hours a day. Their maintenance infrastructure doesn't.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1. No driver = no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Nobody notices trash, spills, or wear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2. Depot-dependent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Vehicles must return for basic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3. Downtime = lost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Every minute in depot is a ride not taken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4. Sensors are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Dirty LiDAR/cameras = degraded driving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377440"/>
            <a:ext cx="5486400" cy="256032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Current Reality</a:t>
            </a:r>
            <a:br/>
            <a:br/>
            <a:r>
              <a:t>Waymo uses 1,000+ Transdev operators at centralized depots.</a:t>
            </a:r>
            <a:br/>
            <a:br/>
            <a:r>
              <a:t>That doesn't scale to 1 million rides/week.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03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Mobile fleet care on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MOTRA deploys certified technicians directly to vehicles — wherever they 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</a:defRPr>
            </a:pPr>
            <a:r>
              <a:t>Quick Clean</a:t>
            </a:r>
            <a:br/>
            <a:r>
              <a:t>$12-18</a:t>
            </a:r>
            <a:br/>
            <a:r>
              <a:t>5-10 min</a:t>
            </a:r>
            <a:br/>
            <a:r>
              <a:t>Wipe-down, trash, odor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</a:defRPr>
            </a:pPr>
            <a:r>
              <a:t>Deep Clean</a:t>
            </a:r>
            <a:br/>
            <a:r>
              <a:t>$45-75</a:t>
            </a:r>
            <a:br/>
            <a:r>
              <a:t>30-60 min</a:t>
            </a:r>
            <a:br/>
            <a:r>
              <a:t>Full detail, sensors, exterior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</a:defRPr>
            </a:pPr>
            <a:r>
              <a:t>Emergency</a:t>
            </a:r>
            <a:br/>
            <a:r>
              <a:t>$75-150</a:t>
            </a:r>
            <a:br/>
            <a:r>
              <a:t>On-demand</a:t>
            </a:r>
            <a:br/>
            <a:r>
              <a:t>Spills, incidents, urgent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10972800" cy="7315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Vehicles stay in zone  |  Variable cost  |  Scales instantly  |  24/7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04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Escape velocity.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robotaxi industry just hit an inflection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66FF"/>
                </a:solidFill>
              </a:defRPr>
            </a:pPr>
            <a:r>
              <a:t>400K</a:t>
            </a:r>
            <a:br/>
            <a:r>
              <a:t>Rides/Week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66FF"/>
                </a:solidFill>
              </a:defRPr>
            </a:pPr>
            <a:r>
              <a:t>10</a:t>
            </a:r>
            <a:br/>
            <a:r>
              <a:t>US Markets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66FF"/>
                </a:solidFill>
              </a:defRPr>
            </a:pPr>
            <a:r>
              <a:t>$16B</a:t>
            </a:r>
            <a:br/>
            <a:r>
              <a:t>Fresh Funding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66FF"/>
                </a:solidFill>
              </a:defRPr>
            </a:pPr>
            <a:r>
              <a:t>$126B</a:t>
            </a:r>
            <a:br/>
            <a:r>
              <a:t>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Now (Feb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EOY 2026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Weekly Rides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10 cities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20+ cities (London, Tokyo)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Fleet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2,500 vehicles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4,500+ vehicles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Price War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Waymo $8.17 vs Uber $17.25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Volume exploding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Sources: TechXplore Feb 2026, Fox News Feb 2026, Bloomberg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05 /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 $147B opportunity.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Robotaxi market: 99% CAGR through 2033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66FF"/>
                </a:solidFill>
              </a:defRPr>
            </a:pPr>
            <a:r>
              <a:t>$2.7B</a:t>
            </a:r>
            <a:br/>
            <a:r>
              <a:t>2025 TAM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66FF"/>
                </a:solidFill>
              </a:defRPr>
            </a:pPr>
            <a:r>
              <a:t>$147B</a:t>
            </a:r>
            <a:br/>
            <a:r>
              <a:t>2033 TAM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66FF"/>
                </a:solidFill>
              </a:defRPr>
            </a:pPr>
            <a:r>
              <a:t>99%</a:t>
            </a:r>
            <a:br/>
            <a:r>
              <a:t>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</a:defRPr>
            </a:pPr>
            <a:r>
              <a:t>MOTRA's Serviceable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$547M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100K robotaxis × ~$105/week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$2.2B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572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200K robotaxis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37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$5.5B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500K robotaxis + commercial EVs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Source: Grand View Research, MOTRA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06 /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competitive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Player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Uber AV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Depot-based cleaning + charging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Competitor to Waymo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Transdev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1,000+ operators at depots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Depot-bound, not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Tesla Robots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Automated cleaning (patents)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Years away, Tesla-only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In-House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AV companies DIY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High fixed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0972800" cy="914400"/>
          </a:xfrm>
          <a:prstGeom prst="roundRect">
            <a:avLst/>
          </a:prstGeom>
          <a:solidFill>
            <a:srgbClr val="14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A34A"/>
                </a:solidFill>
              </a:defRPr>
            </a:pPr>
            <a:r>
              <a:t>MOTRA Advantage: Neutral (Switzerland) · Mobile-first · 100% focused on AV fleet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07 / WHY NOT IN-HOUSE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outsourcing 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Why won't Waymo just do this themselves?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1. Already Outsource</a:t>
            </a:r>
            <a:br/>
            <a:br/>
            <a:r>
              <a:t>Waymo uses Transdev, Moove, Avis, TechForce, Amerit, Terawatt today.</a:t>
            </a:r>
            <a:br/>
            <a:br/>
            <a:r>
              <a:t>Build vs. buy = they buy.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2. Not Core Competency</a:t>
            </a:r>
            <a:br/>
            <a:br/>
            <a:r>
              <a:t>Waymo's edge is autonomous driving AI.</a:t>
            </a:r>
            <a:br/>
            <a:br/>
            <a:r>
              <a:t>Every $ on cleaning = $ not on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3. Math Doesn't Work</a:t>
            </a:r>
            <a:br/>
            <a:br/>
            <a:r>
              <a:t>20+ cities = thousands of employees, HR, facilities.</a:t>
            </a:r>
            <a:br/>
            <a:br/>
            <a:r>
              <a:t>Gig model = variable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10972800" cy="82296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Uber just validated this — if big players could do it in-house, they wouldn't build outsourced 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08 /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layers of defensibility.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Year 1-2: Network Effects</a:t>
            </a:r>
            <a:br/>
            <a:br/>
            <a:r>
              <a:t>• First AV gig network per city</a:t>
            </a:r>
            <a:br/>
            <a:r>
              <a:t>• Hyperlocal network effects</a:t>
            </a:r>
            <a:br/>
            <a:r>
              <a:t>• More techs → faster response → more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Year 2-3: Data Advantage</a:t>
            </a:r>
            <a:br/>
            <a:br/>
            <a:r>
              <a:t>• Every service = operational data</a:t>
            </a:r>
            <a:br/>
            <a:r>
              <a:t>• Predictive maintenance insights</a:t>
            </a:r>
            <a:br/>
            <a:r>
              <a:t>• DoorDash: 30% of eng in data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Year 3+: Integration Lock-In</a:t>
            </a:r>
            <a:br/>
            <a:br/>
            <a:r>
              <a:t>• API embedded in fleet systems</a:t>
            </a:r>
            <a:br/>
            <a:r>
              <a:t>• Part of operator workflows</a:t>
            </a:r>
            <a:br/>
            <a:r>
              <a:t>• 5% retention = 25-95% profit 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The Uber analogy: Uber's moat isn't the app — it's the network of drivers in every 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09 /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15 years at Boeing. 2 patents. Built to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292608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</a:defRPr>
            </a:pPr>
            <a:r>
              <a:t>Adonis Williams — Founder &amp; CEO</a:t>
            </a:r>
            <a:br/>
            <a:br/>
            <a:r>
              <a:t>Role: Deputy Functional Chief Engineer, Boeing</a:t>
            </a:r>
            <a:br/>
            <a:r>
              <a:t>Tenure: 15 years at Boeing</a:t>
            </a:r>
            <a:br/>
            <a:r>
              <a:t>Patents: 2 (cybersecurity, blockchain comms)</a:t>
            </a:r>
            <a:br/>
            <a:r>
              <a:t>Education: MS Systems Engineering, Missouri S&amp;T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2926080"/>
          </a:xfrm>
          <a:prstGeom prst="roundRect">
            <a:avLst/>
          </a:prstGeom>
          <a:solidFill>
            <a:srgbClr val="141923"/>
          </a:solidFill>
          <a:ln>
            <a:solidFill>
              <a:srgbClr val="14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Why Adonis Wins This</a:t>
            </a:r>
            <a:br/>
            <a:br/>
            <a:r>
              <a:t>MOTRA is a systems problem: coordinating a distributed workforce to service safety-critical AVs.</a:t>
            </a:r>
            <a:br/>
            <a:br/>
            <a:r>
              <a:t>That's exactly what he's done at Boeing for 15 years.</a:t>
            </a:r>
            <a:br/>
            <a:br/>
            <a:r>
              <a:t>✓ Complex operations at scale</a:t>
            </a:r>
            <a:br/>
            <a:r>
              <a:t>✓ Distributed teams</a:t>
            </a:r>
            <a:br/>
            <a:r>
              <a:t>✓ Safety-critical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10 /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De-risked.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What if the AV market slows down?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303520" cy="128016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The Risk</a:t>
            </a:r>
            <a:br/>
            <a:br/>
            <a:r>
              <a:t>Robotaxi adoption could hit regulatory delays, technical hurdles, or economic headwinds.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303520" cy="1280160"/>
          </a:xfrm>
          <a:prstGeom prst="roundRect">
            <a:avLst/>
          </a:prstGeom>
          <a:solidFill>
            <a:srgbClr val="14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Adjacent Markets</a:t>
            </a:r>
            <a:br/>
            <a:br/>
            <a:r>
              <a:t>Even if AV slows, 250K+ commercial EVs need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Fleet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Amazon (Rivian)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30,000 EVs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100,000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FedEx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200,000+ vehicles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All-electric by 2040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18,300+ alt-fuel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10,000 more ordered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6A34A"/>
                </a:solidFill>
              </a:defRPr>
            </a:pPr>
            <a:r>
              <a:t>MOTRA has multiple paths to scale. Robotaxis are the beachhead — commercial EVs are the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11 /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First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DoorDash playbook: do things that don't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Phase 1: Manual Pilot</a:t>
            </a:r>
            <a:br/>
            <a:r>
              <a:t>Month 1-3</a:t>
            </a:r>
            <a:br/>
            <a:br/>
            <a:r>
              <a:t>• ONE operator, ONE city</a:t>
            </a:r>
            <a:br/>
            <a:r>
              <a:t>• Free 30-day, 50 vehicles</a:t>
            </a:r>
            <a:br/>
            <a:r>
              <a:t>• Text dispatch, Google Sheets</a:t>
            </a:r>
            <a:br/>
            <a:r>
              <a:t>• We ARE the operators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Phase 2: Paid Contract</a:t>
            </a:r>
            <a:br/>
            <a:r>
              <a:t>Month 4-6</a:t>
            </a:r>
            <a:br/>
            <a:br/>
            <a:r>
              <a:t>• Convert to paid</a:t>
            </a:r>
            <a:br/>
            <a:r>
              <a:t>• Price 20% below Transdev</a:t>
            </a:r>
            <a:br/>
            <a:r>
              <a:t>• 6-month commitment</a:t>
            </a:r>
            <a:br/>
            <a:r>
              <a:t>• Build reference 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Phase 3: Scale</a:t>
            </a:r>
            <a:br/>
            <a:r>
              <a:t>Month 7-12</a:t>
            </a:r>
            <a:br/>
            <a:br/>
            <a:r>
              <a:t>• Add second city</a:t>
            </a:r>
            <a:br/>
            <a:r>
              <a:t>• Launch MVP app</a:t>
            </a:r>
            <a:br/>
            <a:r>
              <a:t>• First customer as reference</a:t>
            </a:r>
            <a:br/>
            <a:r>
              <a:t>• Target $100K MRR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Warm intros = 3-5x better close rate. We're asking them to try a service, not trust an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12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Unit economics.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Platform take-rate on every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Avg service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Tech payout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$10-11 (65-70%)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Platform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$4-5 (27-33%)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Services/tech/day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15-20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Tech daily earnings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$150-220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3657600" cy="16459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66FF"/>
                </a:solidFill>
              </a:defRPr>
            </a:pPr>
            <a:r>
              <a:t>27-33%</a:t>
            </a:r>
            <a:br/>
            <a:r>
              <a:t>Platform Margin</a:t>
            </a:r>
            <a:br/>
            <a:br/>
            <a:r>
              <a:t>High operating leverage — costs don't scale linearly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0972800" cy="82296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At Scale: 10,000 services/day = $150K revenue, $40-50K margin/day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13 /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Investment.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$1.5M Seed to prove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20040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66FF"/>
                </a:solidFill>
              </a:defRPr>
            </a:pPr>
            <a:r>
              <a:t>$1.5M</a:t>
            </a:r>
            <a:br/>
            <a:r>
              <a:t>Seed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Product (40%)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MVP app, API integrations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Operations (30%)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Techs, training, equipment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Sales (20%)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Enterprise BD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G&amp;A (10%)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Legal, insurance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18-Month Milestones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First Paid Contract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$10K+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Product-Market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$100K MRR, 3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Series A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$300K MRR, 1,000+ vehicles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14 / 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paths to liquidity.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Acquisition (Most Likely)</a:t>
            </a:r>
            <a:br/>
            <a:r>
              <a:t>3-5 years, $100-500M</a:t>
            </a:r>
            <a:br/>
            <a:br/>
            <a:r>
              <a:t>• Waymo (uses 6+ contractors)</a:t>
            </a:r>
            <a:br/>
            <a:r>
              <a:t>• Uber (just launched AV Services)</a:t>
            </a:r>
            <a:br/>
            <a:r>
              <a:t>• Amazon (owns Zoox)</a:t>
            </a:r>
            <a:br/>
            <a:br/>
            <a:r>
              <a:t>Comp: Zoox = $1.2B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Fleet Services Roll-Up</a:t>
            </a:r>
            <a:br/>
            <a:r>
              <a:t>4-6 years</a:t>
            </a:r>
            <a:br/>
            <a:br/>
            <a:r>
              <a:t>• Enterprise Mobility</a:t>
            </a:r>
            <a:br/>
            <a:r>
              <a:t>• Cox Automotive</a:t>
            </a:r>
            <a:br/>
            <a:r>
              <a:t>• Fleetio ($1.5B valuation)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IPO Path</a:t>
            </a:r>
            <a:br/>
            <a:r>
              <a:t>7-10 years</a:t>
            </a:r>
            <a:br/>
            <a:br/>
            <a:r>
              <a:t>• Expand beyond AV to ALL</a:t>
            </a:r>
            <a:br/>
            <a:r>
              <a:t>  commercial fleet services</a:t>
            </a:r>
            <a:br/>
            <a:r>
              <a:t>• 250K+ vehicles addressable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Waymo is valued at $126B. A $200M acquisition is a rounding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future of mobility needs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AUTONOMY, MAINTAINED.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Deputy Functional Chief Engineer, Boeing (15 years)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MS Systems Engineering | 2 Patents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</a:defRPr>
            </a:pPr>
            <a:r>
              <a:t>adonis@motra.io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
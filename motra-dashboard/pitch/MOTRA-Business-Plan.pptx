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MOTRA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323232"/>
                </a:solidFill>
              </a:defRPr>
            </a:pPr>
            <a:r>
              <a:t>Autonomy, Maintained</a:t>
            </a:r>
            <a:br/>
            <a:br/>
            <a:r>
              <a:t>Business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412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ADONIS WILLIAMS — Founder &amp; CEO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Current Role: Deputy Functional Chief Engineer at Boeing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Experience: Engineering Manager, Boeing Research &amp; Technology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Education: Missouri University of Science and Technology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Location: Seattle, Washington — epicenter of tech and mobility innovation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Why Adonis: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10+ years leading complex engineering systems at scale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Deep expertise in fleet operations and infrastructure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Track record of building and shipping products used by millions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Connected to Seattle's tech and mobility ecosystem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Team Values &amp; Norms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Engineering Excellence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Scalability First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Operator Mindset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Data-Driven Decisions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Customer Obsession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6858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Norms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960120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Own outcomes end-to-end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Test assumptions rapidly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Measure everything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Move fast once decided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Weekly iteration cycles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Define the Need: Overarching Hypothesis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Autonomous Vehicle Fleet Operators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Companies like Waymo, Cruise, Zoox, Tesla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Fleet Operations Managers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VP of Operations / Head of Fleet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6858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PAIN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960120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Who cleans robotaxis between rides?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No driver to notice spills, trash, wear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Depot-based cleaning = downtime = lost revenue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Sensors must stay clean (safety-critical)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Current solutions don't scale to millions of rides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Our Hypothesis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412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AV fleet operators will pay for on-demand, mobile cleaning and maintenance services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that come to their vehicles — eliminating depot trips and maximizing uptime.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SOLUTION: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MOTRA deploys a gig-powered network of mobile technicians to clean and service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autonomous vehicles on-location, on-demand.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KEY INSIGHT: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Waymo currently hand-washes every vehicle at centralized depots.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This approach fundamentally doesn't scale to millions of rides.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MOTRA is AWS for autonomous fleet maintenance —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invisible, essential, everywhere.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User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412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1. INSPIRATION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 Fleet operator realizes cleaning ops are becoming a bottleneck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 Vehicles spending too much time in depot, not earning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2. DISCOVERY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 Searches for fleet cleaning solutions, finds MOTRA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 Sees: mobile, on-demand, gig-powered, AV-specialized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3. DECISION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 Runs pilot with 50 vehicles in one city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 Compares: cost per clean, vehicle uptime, quality scores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4. EXECUTION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 Integrates MOTRA API with fleet management system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 Automated dispatch after X rides or on-demand triggers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5. EXPANSION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 Rolls out to all markets, becomes preferred vendor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Facts vs. Hypotheses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VALIDATED 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Waymo: 400K rides/week, targeting 1M/week by 2026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Fleet: 2,500 vehicles → 'tens of thousands' planned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Waymo hand-washes at depots (can't use car washes)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15 million rides delivered in 2025 alone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Tesla Robotaxi, Zoox, Cruise all scaling 2026-2027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6858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HYPOTHESES TO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960120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Fleet operators want to outsource cleaning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Mobile service is faster than depot round-trips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$15/service price point is acceptable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Gig workers can be trained to AV standards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Quality can be maintained at scale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Market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412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TAM (Total Addressable Market) — 2032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500,000 AVs × 2 services/day × $15/service × 365 days = $5.5 BILLION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SAM (Serviceable Addressable Market) — 2028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50,000 AVs × 2 services/day × $15/service × 365 days = $547 MILLION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SOM (Serviceable Obtainable Market) — Year 1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10% of one operator (250 vehicles) in one city = $2 MILLION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GROWTH DRIVERS: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Waymo targeting 1M rides/week by end of 2026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Tesla Robotaxi launching 2026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Zoox (Amazon) expanding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EV fleet services (Amazon vans, FedEx, UPS) — adjacent market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CURRENT ALTERNATIVES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AV In-House Ops: High fixed cost, doesn't scale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Traditional Fleet Services: Not mobile, not AV-specialized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Car Washes: Damages sensors, no interior service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Mobile Detailing: Not scaled, not fleet-focused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Gig Platforms: No AV specialization or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6858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MOTRA'S ADVANTAGES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960120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AV-Specialized: Sensors, EVs, safety protocols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Mobile-First: Go to the vehicle, not vice versa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Gig-Powered: Variable cost, instant scaling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Tech-Enabled: API integration with fleet systems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First Mover: No scaled competitor exists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Traction To 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412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COMPLETED: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Market research: Validated Waymo's depot-based cleaning bottleneck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TAM/SAM/SOM analysis complete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Competitive landscape mapped — blue ocean confirmed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Landing page live: tidytails.github.io/motra-landing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Pitch materials ready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IN PROGRESS: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Outreach to Waymo Fleet Operations contacts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Identifying pilot market (Phoenix or SF)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Defining MVP service scope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NEXT MILESTONES: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First customer discovery call with AV operator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Letter of intent from pilot partner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North Star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412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"Every autonomous vehicle in the world is serviced by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MOTRA's invisible infrastructure layer —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clean, maintained, and always ready."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We become the AWS of autonomous fleet maintenance: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Present in every market where AVs operate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Integrated into every fleet management system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The default answer when operators think 'fleet care'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Enabling the autonomous future by handling what humans used to 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BUSINESS MODEL CANVAS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502920"/>
            <a:ext cx="1719072" cy="2788920"/>
          </a:xfrm>
          <a:prstGeom prst="roundRect">
            <a:avLst/>
          </a:prstGeom>
          <a:solidFill>
            <a:srgbClr val="E8E4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548640"/>
            <a:ext cx="1581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03366"/>
                </a:solidFill>
              </a:defRPr>
            </a:pPr>
            <a:r>
              <a:t>KEY PARTNERS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" y="758952"/>
            <a:ext cx="158191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AV Ecosystem: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Waymo, Cruise, Zoox, Tesla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Fleet mgmt software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Gig Economy: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Existing gig platforms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Training providers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Equipment suppliers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Supporting: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Insurance providers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Background checks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Payment processing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01952" y="502920"/>
            <a:ext cx="1719072" cy="1371600"/>
          </a:xfrm>
          <a:prstGeom prst="roundRect">
            <a:avLst/>
          </a:prstGeom>
          <a:solidFill>
            <a:srgbClr val="E8E4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75104" y="548640"/>
            <a:ext cx="1581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03366"/>
                </a:solidFill>
              </a:defRPr>
            </a:pPr>
            <a:r>
              <a:t>KEY ACTIVITIES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758952"/>
            <a:ext cx="158191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Platform development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Tech recruitment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AV-specific training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Quality assurance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Enterprise sales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01952" y="1920240"/>
            <a:ext cx="1719072" cy="1371600"/>
          </a:xfrm>
          <a:prstGeom prst="roundRect">
            <a:avLst/>
          </a:prstGeom>
          <a:solidFill>
            <a:srgbClr val="E8E4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75104" y="1965960"/>
            <a:ext cx="1581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03366"/>
                </a:solidFill>
              </a:defRPr>
            </a:pPr>
            <a:r>
              <a:t>KEY RESOURCES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75104" y="2176272"/>
            <a:ext cx="158191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Technology: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Dispatch platform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Fleet dashboard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Technician app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Human: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Engineering team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Trained tech network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66744" y="502920"/>
            <a:ext cx="1719072" cy="2788920"/>
          </a:xfrm>
          <a:prstGeom prst="roundRect">
            <a:avLst/>
          </a:prstGeom>
          <a:solidFill>
            <a:srgbClr val="FCE4D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9896" y="548640"/>
            <a:ext cx="1581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03366"/>
                </a:solidFill>
              </a:defRPr>
            </a:pPr>
            <a:r>
              <a:t>VALUE PROPOSITIONS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9896" y="758952"/>
            <a:ext cx="158191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For Fleet Operators: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Reduce downtime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Variable cost model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Scale instantly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24/7 availability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API integration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vs. In-House: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50% cost reduction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30% more uptime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For Technicians: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Flexible gig work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$15-20/hour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31536" y="502920"/>
            <a:ext cx="1719072" cy="1371600"/>
          </a:xfrm>
          <a:prstGeom prst="roundRect">
            <a:avLst/>
          </a:prstGeom>
          <a:solidFill>
            <a:srgbClr val="FFF9E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04688" y="548640"/>
            <a:ext cx="1581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03366"/>
                </a:solidFill>
              </a:defRPr>
            </a:pPr>
            <a:r>
              <a:t>CUSTOMER RELATIONSHIPS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04688" y="758952"/>
            <a:ext cx="158191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Dedicated account mgrs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API integration support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Performance dashboards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SLA guarantees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24/7 support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31536" y="1920240"/>
            <a:ext cx="1719072" cy="1371600"/>
          </a:xfrm>
          <a:prstGeom prst="roundRect">
            <a:avLst/>
          </a:prstGeom>
          <a:solidFill>
            <a:srgbClr val="FFF9E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04688" y="1965960"/>
            <a:ext cx="1581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03366"/>
                </a:solidFill>
              </a:defRPr>
            </a:pPr>
            <a:r>
              <a:t>CHANNELS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04688" y="2176272"/>
            <a:ext cx="158191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Acquisition: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Direct enterprise sales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Industry conferences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Delivery: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Fleet dashboard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API integration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Mobile dispatch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96328" y="502920"/>
            <a:ext cx="1719072" cy="2788920"/>
          </a:xfrm>
          <a:prstGeom prst="roundRect">
            <a:avLst/>
          </a:prstGeom>
          <a:solidFill>
            <a:srgbClr val="FFF9E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80" y="548640"/>
            <a:ext cx="1581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03366"/>
                </a:solidFill>
              </a:defRPr>
            </a:pPr>
            <a:r>
              <a:t>CUSTOMER SEGMENTS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758952"/>
            <a:ext cx="158191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Primary: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Waymo (2,500+ vehicles)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Cruise (rebuilding)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Zoox (Amazon)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Tesla Robotaxi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Secondary: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Amazon Delivery EVs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FedEx/UPS electric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Buyers: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VP of Operations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• Fleet Ops Manager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" y="3337560"/>
            <a:ext cx="3483864" cy="914400"/>
          </a:xfrm>
          <a:prstGeom prst="round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0312" y="3383280"/>
            <a:ext cx="33467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03366"/>
                </a:solidFill>
              </a:defRPr>
            </a:pPr>
            <a:r>
              <a:t>COST STRUCTURE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" y="3593592"/>
            <a:ext cx="33467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Variable: Tech payouts (65-70%), Payment processing (2-3%)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Fixed: Platform ($15-20K/mo), Team ($40-60K/mo), Marketing ($10-15K/mo)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Seed: $1.5M total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66744" y="3337560"/>
            <a:ext cx="5248656" cy="914400"/>
          </a:xfrm>
          <a:prstGeom prst="roundRect">
            <a:avLst/>
          </a:prstGeom>
          <a:solidFill>
            <a:srgbClr val="DBEAFE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39896" y="3383280"/>
            <a:ext cx="51114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03366"/>
                </a:solidFill>
              </a:defRPr>
            </a:pPr>
            <a:r>
              <a:t>REVENUE STREAMS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39896" y="3593592"/>
            <a:ext cx="51114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Services: Quick ($12-18) | Deep ($45-75) | Emergency ($75-150)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Unit Economics: Avg $15/service, 30% margin ($4-5), Target 10K/day</a:t>
            </a:r>
          </a:p>
          <a:p>
            <a:pPr>
              <a:spcAft>
                <a:spcPts val="100"/>
              </a:spcAft>
              <a:defRPr sz="600">
                <a:solidFill>
                  <a:srgbClr val="323232"/>
                </a:solidFill>
              </a:defRPr>
            </a:pPr>
            <a:r>
              <a:t>Projections: Y1 $1.2M → Y2 $5.5M → Y3 $15M | TAM 2032: $5.5B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Value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412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FOR AV FLEET OPERATORS: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REDUCE DOWNTIME: Vehicles stay in service zones, no depot trips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VARIABLE COSTS: Pay per service, not per facility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SCALE INSTANTLY: Expand to new markets without building infrastructure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QUALITY ASSURED: Certified techs, standardized processes, tracked metrics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API INTEGRATION: Automated dispatch based on ride data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VS. CURRENT ALTERNATIVES: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50% cost reduction vs. in-house depot operations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30% more vehicle uptime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Zero facility buildout in new markets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Real-time quality tracking (in-house is often unmeasured)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Customer Segments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412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PRIMARY: Autonomous Vehicle Fleet Operators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Waymo (Alphabet) — 2,500+ vehicles, 400K rides/week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Cruise (GM) — Rebuilding after 2023 pause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Zoox (Amazon) — Testing in SF, Las Vegas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Tesla Robotaxi — Launching 2026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SECONDARY: Electric Fleet Operators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Amazon Delivery Vans (100,000+ vehicles)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FedEx/UPS Electric Fleets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Corporate EV Fleets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BUYER PERSONAS: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VP of Operations / Head of Fleet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Fleet Operations Manager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Facilities/Maintenance Director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DECISION CRITERIA: Cost per clean, uptime improvement, quality scores, scalability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Payment Flow — How Money Moves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412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STEP 1: Fleet Operator (Waymo) pays MOTRA per service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  - Invoice monthly or per-service via API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  - Enterprise contracts with volume discounts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STEP 2: MOTRA takes platform cut (25-35%)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  - Covers: platform, insurance, support, quality assurance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  - $4-5 per $15 service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STEP 3: MOTRA pays Technician via app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  - 1099 contractor (not Waymo employee)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  - $10-11 per service ($15-20/hour effective rate)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  - Weekly direct deposit or instant pay option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KEY INSIGHT: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Waymo gets ONE vendor, ONE invoice, ZERO worker management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MOTRA handles recruiting, training, payroll, insurance, quality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Technicians get flexible gig work with consistent demand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Revenue Streams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412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PER-SERVICE PRICING: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Quick Clean (5-10 min): $12-18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Deep Clean (30-60 min): $45-75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Light Maintenance: $25-50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Emergency Response: $75-150 (premium)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UNIT ECONOMICS: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Average service price: $15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Technician payout: $10-11 (65-70%)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Platform margin: $4-5 (27-33%)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AT SCALE: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1,000 services/day = $15K revenue, $4-5K margin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10,000 services/day = $150K revenue, $40-50K margin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Key Activities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412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PLATFORM DEVELOPMENT: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Fleet operator dashboard (scheduling, tracking, analytics)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Technician mobile app (dispatch, checklists, earnings)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API for fleet management system integration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NETWORK OPERATIONS: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Technician recruitment and onboarding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AV-specific training and certification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Quality assurance and performance management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ENTERPRISE SALES: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Outreach to AV fleet operators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Pilot program management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Account expansion and retention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Key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412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TECHNOLOGY: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Dispatch and routing platform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Fleet operator dashboard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Technician mobile application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HUMAN: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Engineering team (platform development)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Operations team (network management)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Trained technician network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INTELLECTUAL: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AV-specific training curriculum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Quality standards and checklists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FINANCIAL: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Seed funding for 18-month runway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Key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412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AV ECOSYSTEM: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Waymo, Cruise, Zoox, Tesla (customers)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Fleet management software providers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GIG ECONOMY: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Existing gig platforms (recruitment channel)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Detailing/cleaning training providers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Equipment suppliers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SUPPORTING: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Insurance providers (commercial auto, liability)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Background check services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Payment processing (Stripe, etc.)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Cost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412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VARIABLE COSTS (scale with volume):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Technician payouts: 65-70% of service revenue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Payment processing: 2-3%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FIXED COSTS: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Platform development &amp; maintenance: $15-20K/month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Core team salaries: $40-60K/month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Marketing &amp; sales: $10-15K/month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Insurance &amp; legal: $5-10K/month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STARTUP COSTS: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MVP development: $100-150K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Initial market launch: $50K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Working capital: $100K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TOTAL SEED NEED: $1.5M for 18-month runway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Financial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412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YEAR 1: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Markets: 1 (Phoenix or SF)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Vehicles served: 500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Revenue: $1.2M | Net: -$300K (investment phase)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YEAR 2: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Markets: 3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Vehicles served: 3,000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Revenue: $5.5M | Net: +$800K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YEAR 3: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Markets: 7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Vehicles served: 10,000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Revenue: $15M | Net: +$3.5M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PATH TO $10M ARR: 36 months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412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RAISING: $1.5M Seed Round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USE OF FUNDS: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Product Development (40%): Platform, apps, API integrations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Operations (30%): Tech recruitment, training, equipment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Sales (20%): Enterprise BD, pilot programs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G&amp;A (10%): Legal, insurance, admin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MILESTONES TO SERIES A: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1 enterprise contract with major AV operator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1,000+ services/month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Positive unit economics proven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RUNWAY: 18 months to Series A metrics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MOTRA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323232"/>
                </a:solidFill>
              </a:defRPr>
            </a:pPr>
            <a:r>
              <a:t>Autonomy, Maintained</a:t>
            </a:r>
            <a:br/>
            <a:br/>
            <a:r>
              <a:t>Adonis Williams | Seattle, WA</a:t>
            </a:r>
            <a:br/>
            <a:r>
              <a:t>tidytails.github.io/motra-landing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
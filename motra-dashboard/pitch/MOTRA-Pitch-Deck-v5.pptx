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066FF"/>
                </a:solidFill>
              </a:defRPr>
            </a:pPr>
            <a:r>
              <a:t>MOTRA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66666"/>
                </a:solidFill>
              </a:defRPr>
            </a:pPr>
            <a:r>
              <a:t>AUTONOMY, MAINTAINED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Seed Round —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01 / COMPANY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infrastructure layer for AV fleet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MOTRA is the infrastructure layer for autonomous vehicle fleet care.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We deploy a gig-powered network of mobile technicians to clean and service robotaxis on-location, on-demand — keeping fleets running 24/7.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114800"/>
            <a:ext cx="10972800" cy="91440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Think DoorDash for fleet maintenance — invisible, essential, everywhere.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02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maintenance bottleneck.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Robotaxis run 15+ hours a day. Their maintenance infrastructure doesn't.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1. No driver = no eyes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97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Nobody notices trash, spills, or wear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2. Depot-dependent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Vehicles must return for basic cleaning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3. Downtime = lost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690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Every minute in depot is a ride not taken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4. Sensors are 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7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Dirty LiDAR/cameras = degraded driving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2377440"/>
            <a:ext cx="5486400" cy="2560320"/>
          </a:xfrm>
          <a:prstGeom prst="roundRect">
            <a:avLst/>
          </a:prstGeom>
          <a:solidFill>
            <a:srgbClr val="321E1E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2626"/>
                </a:solidFill>
              </a:defRPr>
            </a:pPr>
            <a:r>
              <a:t>Current Reality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0175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Waymo uses 1,000+ Transdev operators at centralized depots.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6576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That doesn't scale to 1 million rides/week.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03 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Mobile fleet care on demand.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</a:defRPr>
            </a:pPr>
            <a:r>
              <a:t>MOTRA deploys certified technicians directly to vehicles — wherever they 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377440"/>
            <a:ext cx="356616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Quick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FF"/>
                </a:solidFill>
              </a:defRPr>
            </a:pPr>
            <a:r>
              <a:t>$12-18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5-10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Wipe-down, trash, odor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2377440"/>
            <a:ext cx="356616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Deep Clean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FF"/>
                </a:solidFill>
              </a:defRPr>
            </a:pPr>
            <a:r>
              <a:t>$45-75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30-60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Full detail, sensors, exterior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2377440"/>
            <a:ext cx="3566160" cy="201168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Emergency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29718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66FF"/>
                </a:solidFill>
              </a:defRPr>
            </a:pPr>
            <a:r>
              <a:t>$75-150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34747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On-demand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Spills, incidents, urgent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754880"/>
            <a:ext cx="10972800" cy="7315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377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Vehicles stay in zone  |  Variable cost  |  Scales instantly  |  24/7 availability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04 / 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Escape velocity.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The robotaxi industry just hit an inflection point.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61120" y="2194560"/>
            <a:ext cx="265176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</a:defRPr>
            </a:pPr>
            <a:r>
              <a:t>400K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Rides/Week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31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US Markets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331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</a:defRPr>
            </a:pPr>
            <a:r>
              <a:t>$16B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Fresh Funding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331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66FF"/>
                </a:solidFill>
              </a:defRPr>
            </a:pPr>
            <a:r>
              <a:t>$126B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Metric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3657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Now (Feb 2026)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EOY 2026 Target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023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Weekly Rides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023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400,000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023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1,000,000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891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Markets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3891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10 cities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20+ cities (London, Tokyo)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Fleet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754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2,500 vehicles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754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4,500+ vehicles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206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Price War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120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Waymo $8.17 vs Uber $17.25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206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Volume exploding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Sources: TechXplore Feb 2026, Fox News Feb 2026, Bloomberg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05 / MARKET SIZE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 $147B opportunity.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Robotaxi market: 99% CAGR through 2033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47472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47472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47472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$2.7B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2025 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331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$147B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0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2033 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33172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99%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2926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CAGR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66FF"/>
                </a:solidFill>
              </a:defRPr>
            </a:pPr>
            <a:r>
              <a:t>MOTRA's Serviceable Market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206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2062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$547M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206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100K robotaxis × ~$105/week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5720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$2.2B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5720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200K robotaxis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2032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49377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$5.5B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9377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500K robotaxis + commercial EVs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66"/>
                </a:solidFill>
              </a:defRPr>
            </a:pPr>
            <a:r>
              <a:t>Source: Grand View Research, MOTRA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06 / 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competitive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Player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Limitation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Uber AV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Depot-based cleaning + charging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194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Competitor to Waymo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Transdev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1,000+ operators at depots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6517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Depot-bound, not mobile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Tesla Robots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Automated cleaning (patents)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108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Years away, Tesla-only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66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In-House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</a:defRPr>
            </a:pPr>
            <a:r>
              <a:t>AV companies DIY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DC2626"/>
                </a:solidFill>
              </a:defRPr>
            </a:pPr>
            <a:r>
              <a:t>High fixed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89120"/>
            <a:ext cx="10972800" cy="914400"/>
          </a:xfrm>
          <a:prstGeom prst="roundRect">
            <a:avLst/>
          </a:prstGeom>
          <a:solidFill>
            <a:srgbClr val="1432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617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MOTRA Advantage: Neutral (Switzerland) · Mobile-first · 100% focused on AV fleet care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07 / WHY NOT IN-HOUSE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The outsourcing 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Why won't Waymo just do this themselves?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19456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566160" cy="219456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566160" cy="219456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1. Already Outsource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Waymo uses Transdev, Moove, Avis, TechForce, Amerit, Terawatt today.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Build vs. buy = they buy.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2. Not Core Competency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743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Waymo's edge is autonomous driving 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Every $ on cleaning = $ not on AI.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3. Math Doesn't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743200"/>
            <a:ext cx="3291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20+ cities = thousands of employees, HR, facilities.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474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Gig model = variable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10972800" cy="82296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Uber just validated this — if big players could do it in-house, they wouldn't build outsourced solutions.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08 /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Our moat.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Three layers of defensibility.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</a:defRPr>
            </a:pPr>
            <a:r>
              <a:t>Year 1-2: Network Effects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First AV gig network per 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Hyperlocal network effects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More techs → faster response → more 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331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</a:defRPr>
            </a:pPr>
            <a:r>
              <a:t>Year 2-3: Data Advantage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Every service = operational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Predictive maintenance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DoorDash: 30% of eng in data roles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3317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66FF"/>
                </a:solidFill>
              </a:defRPr>
            </a:pPr>
            <a:r>
              <a:t>Year 3+: Integration Lock-In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8346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API embedded in fleet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2440" y="32004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Part of operator workflows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5661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5% retention = 25-95% profit boost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</a:defRPr>
            </a:pPr>
            <a:r>
              <a:t>The Uber analogy: Uber's moat isn't the app — it's the network of drivers in every city.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09 /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Leadership.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15 years at Boeing. 2 patents. Built to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486400" cy="292608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5029200" cy="2926080"/>
          </a:xfrm>
          <a:prstGeom prst="roundRect">
            <a:avLst/>
          </a:prstGeom>
          <a:solidFill>
            <a:srgbClr val="1419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Adonis Williams — 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Role: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Deputy Functional Chief Engineer, Boeing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91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Tenure: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15 years at Boeing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576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Patents: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 (cybersecurity, blockchain comms)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Education: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MS Systems Engineering, Missouri S&amp;T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377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Why Adonis Wins This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8346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MOTRA is a systems problem: coordinating a distributed workforce to service safety-critical AVs.</a:t>
            </a:r>
            <a:br/>
            <a:br/>
            <a:r>
              <a:t>That's exactly what he's done at Boeing for 15 years.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0233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6A34A"/>
                </a:solidFill>
              </a:defRPr>
            </a:pPr>
            <a:r>
              <a:t>✓ Complex operations at scale</a:t>
            </a:r>
            <a:br/>
            <a:r>
              <a:t>✓ Distributed teams</a:t>
            </a:r>
            <a:br/>
            <a:r>
              <a:t>✓ Safety-critical systems</a:t>
            </a:r>
            <a:br/>
            <a:r>
              <a:t>✓ 2 patents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10 / RISK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De-risked.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What if the AV market slows down?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303520" cy="1280160"/>
          </a:xfrm>
          <a:prstGeom prst="roundRect">
            <a:avLst/>
          </a:prstGeom>
          <a:solidFill>
            <a:srgbClr val="321E1E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303520" cy="1280160"/>
          </a:xfrm>
          <a:prstGeom prst="roundRect">
            <a:avLst/>
          </a:prstGeom>
          <a:solidFill>
            <a:srgbClr val="1432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C2626"/>
                </a:solidFill>
              </a:defRPr>
            </a:pPr>
            <a:r>
              <a:t>The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974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Robotaxi adoption could hit regulatory delays, technical hurdles, or economic headwinds.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A34A"/>
                </a:solidFill>
              </a:defRPr>
            </a:pPr>
            <a:r>
              <a:t>Adjacent Markets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Even if AV slows, 250K+ commercial EVs need service.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Fleet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Current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374903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66FF"/>
                </a:solidFill>
              </a:defRPr>
            </a:pPr>
            <a:r>
              <a:t>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Amazon (Rivian)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148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30,000 EVs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4114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100,000 by 2030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80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FedEx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4805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200,000+ vehicles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4480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All-electric by 2040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46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UPS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46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18,300+ alt-fuel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4846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</a:defRPr>
            </a:pPr>
            <a:r>
              <a:t>10,000 more ordered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94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6A34A"/>
                </a:solidFill>
              </a:defRPr>
            </a:pPr>
            <a:r>
              <a:t>MOTRA has multiple paths to scale. Robotaxis are the beachhead — commercial EVs are the expansion.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11 /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First customers.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The DoorDash playbook: do things that don't scale.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Phase 1: Manual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Month 1-3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17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ONE operator, ONE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Free 30-day, 50 vehicles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Text dispatch, Google Sheets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77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We ARE the operators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Phase 2: Paid Contract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Month 4-6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17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Convert to paid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337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Price 20% below Transdev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6-month commitment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977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Build reference customer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Phase 3: Scale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Month 7-12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175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Add second city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375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Launch MVP 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576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First customer as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977639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</a:defRPr>
            </a:pPr>
            <a:r>
              <a:t>• Target $100K MRR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Warm intros = 3-5x better close rate. We're asking them to try a service, not trust an app.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12 /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Unit economics.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Platform take-rate on every service.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Avg service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194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Tech payout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606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$10-11 (65-70%)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Platform margin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$4-5 (27-33%)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Services/tech/day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15-20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</a:defRPr>
            </a:pPr>
            <a:r>
              <a:t>Tech daily earnings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66FF"/>
                </a:solidFill>
              </a:defRPr>
            </a:pPr>
            <a:r>
              <a:t>$150-220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194560"/>
            <a:ext cx="365760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3317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FF"/>
                </a:solidFill>
              </a:defRPr>
            </a:pPr>
            <a:r>
              <a:t>27-33%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Platform Margin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657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High operating leverage — costs don't scale linearly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72000"/>
            <a:ext cx="10972800" cy="82296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At Scale: 10,000 services/day = $150K revenue, $40-50K margin/day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13 / 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Investment.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$1.5M Seed to prove the model.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200400" cy="1188720"/>
          </a:xfrm>
          <a:prstGeom prst="roundRect">
            <a:avLst/>
          </a:prstGeom>
          <a:solidFill>
            <a:srgbClr val="002850"/>
          </a:solidFill>
          <a:ln>
            <a:solidFill>
              <a:srgbClr val="006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66FF"/>
                </a:solidFill>
              </a:defRPr>
            </a:pPr>
            <a:r>
              <a:t>$1.5M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</a:defRPr>
            </a:pPr>
            <a:r>
              <a:t>Seed 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94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Use of Funds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Product (40%)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MVP app, API integrations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0175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Operations (30%)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Techs, training, equipment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38327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Sales (20%)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38327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Enterprise BD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749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G&amp;A (10%)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7490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Legal, insurance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66FF"/>
                </a:solidFill>
              </a:defRPr>
            </a:pPr>
            <a:r>
              <a:t>18-Month Milestones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First Paid Contract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572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Month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$10K+ MRR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Product-Market Fit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4937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Month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$100K MRR, 3 cities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3035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Series A Ready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5303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</a:defRPr>
            </a:pPr>
            <a:r>
              <a:t>Month 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303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$300K MRR, 1,000+ vehicles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66FF"/>
                </a:solidFill>
              </a:defRPr>
            </a:pPr>
            <a:r>
              <a:t>14 / EXIT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Returns.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</a:defRPr>
            </a:pPr>
            <a:r>
              <a:t>Three paths to liquidity.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206240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79" y="2194560"/>
            <a:ext cx="3566160" cy="2560320"/>
          </a:xfrm>
          <a:prstGeom prst="roundRect">
            <a:avLst/>
          </a:prstGeom>
          <a:solidFill>
            <a:srgbClr val="1E1E1E"/>
          </a:solidFill>
          <a:ln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A34A"/>
                </a:solidFill>
              </a:defRPr>
            </a:pPr>
            <a:r>
              <a:t>Acquisition (Most Likely)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3-5 years, $100-500M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063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Waymo (uses 6+ contractors)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Uber (just launched AV Services)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6118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Amazon (owns Zoox)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8862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Comp: Zoox = $1.2B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Fleet Services Roll-Up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4-6 years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3063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Enterprise Mobility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Cox Automotive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36118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Fleetio ($1.5B valuation)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23317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IPO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6974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66666"/>
                </a:solidFill>
              </a:defRPr>
            </a:pPr>
            <a:r>
              <a:t>7-10 years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06324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Expand beyond AV to 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3375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commercial fleet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61187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</a:defRPr>
            </a:pPr>
            <a:r>
              <a:t>• 250K+ vehicles addressable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Waymo is valued at $126B. A $200M acquisition is a rounding error.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The future of mobility needs infrastructure.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66666"/>
                </a:solidFill>
              </a:defRPr>
            </a:pPr>
            <a:r>
              <a:t>AUTONOMY, MAINTAINED.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Adonis Williams — 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Deputy Functional Chief Engineer, Boeing (15 years)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66"/>
                </a:solidFill>
              </a:defRPr>
            </a:pPr>
            <a:r>
              <a:t>MS Systems Engineering | 2 Patents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48640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66FF"/>
                </a:solidFill>
              </a:defRPr>
            </a:pPr>
            <a:r>
              <a:t>adonis@motra.io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
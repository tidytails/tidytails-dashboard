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Waxr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20040" y="1417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detailer. Track the job. Love the result.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2057400"/>
            <a:ext cx="6400800" cy="36576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40280"/>
            <a:ext cx="822960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33472"/>
            <a:ext cx="78638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Waxr is a tech-first mobile detailing marketplace that connects car owners with vetted, certified detailers — delivering professional-grade results at the customer's home, office, or parking lot. We are building the quality-consistent, Uber-grade on-demand detailing experience that no incumbent has delivered.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651760" cy="77724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75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At-home or at-work service — zero trip to a car wash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3657600"/>
            <a:ext cx="2651760" cy="77724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3675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Consistency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detailers, AI photo verification, guaranteed results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3657600"/>
            <a:ext cx="2651760" cy="77724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3675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Tech-First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71616" y="4005072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pricing, real-time GPS tracking, route optimization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What pain point are we solving?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6052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416052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4160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potential customers whose problem we plan to address?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416052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 of US drivers use professional car wash services (MMCG 2025)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post-pandemic increase in demand for at-home services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owners without time to visit fixed-location car washes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Affluent suburban households valuing convenience &amp; quality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managers: rental agencies, dealerships, rideshare lots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41605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key unmet need our customers face today?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874520"/>
            <a:ext cx="416052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national tech-first mobile detailing marketplace exists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wildly inconsistent — 34% of reviews cite it as #1 complaint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 and last-minute cancellations plague every platform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experiences lag Uber/DoorDash by 10+ years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Interior-only services, real-time tracking, and subscriptions absent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Detailers underpaid ($21K–$35K/yr on platforms) → churn → quality failure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4114800"/>
            <a:ext cx="8503920" cy="530352"/>
          </a:xfrm>
          <a:prstGeom prst="rect">
            <a:avLst/>
          </a:prstGeom>
          <a:solidFill>
            <a:srgbClr val="E8F8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151376"/>
            <a:ext cx="8321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evidence: $2.6–3.1B US market growing at 11% CAGR  •  Best-funded incumbent (Spiffy, $90.8M) pivoting to dealer SaaS  •  Cherry, Washe, Squeegy — all shut 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What does Waxr deliver?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8503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Waxr is a quality-gated mobile detailing marketplace. Search, book, track, and review a certified detailer in under 60 seconds. Service comes to you.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770632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63040"/>
            <a:ext cx="277063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Consumers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938528"/>
            <a:ext cx="2770632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in &lt;60 sec via app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Uber-quality real-time GPS tracking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Detailer profiles with skill tiers &amp; verified history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AI photo documentation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Interior-only, exterior, or full-detail options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subscription with pause/resume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63824" y="1463040"/>
            <a:ext cx="2770632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3824" y="1463040"/>
            <a:ext cx="277063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Detailers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63824" y="1938528"/>
            <a:ext cx="2770632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scheduling, CRM &amp; invoicing tools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credential &amp; certification system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Quality-gated tier: higher cert = higher-value jobs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insurance (garage-keepers liability)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route optimization — up to 40% more jobs/day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pay with no tip deductions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07608" y="1463040"/>
            <a:ext cx="2770632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7608" y="1463040"/>
            <a:ext cx="277063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Fleet B2B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07608" y="1938528"/>
            <a:ext cx="2770632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fleet dashboard &amp; management API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scheduling on mileage/utilization triggers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coverage for dealerships, rental agencies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pricing &amp; SLA-backed quality guarantees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ARI, Element, Enterprise Fleet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4590288"/>
            <a:ext cx="265176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617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$60–$299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040" y="499262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 range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36392" y="4590288"/>
            <a:ext cx="265176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4617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33–40%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36392" y="499262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jobs/day w/ AI routing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4590288"/>
            <a:ext cx="2651760" cy="777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4617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CAGR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0" y="499262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What makes this the right moment?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FACTS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90672" y="914400"/>
            <a:ext cx="301752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90672" y="914400"/>
            <a:ext cx="3017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CATALYSTS — WHY NOW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27064" y="914400"/>
            <a:ext cx="260604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27064" y="914400"/>
            <a:ext cx="2606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WINDOW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265176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$2.6–3.1B US mobile detailing market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11%+ annual market CAGR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 of US drivers use pro car wash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App-based booking growing 24.96% CAGR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 funded player (Spiffy) at scale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Spiffy: &lt;5% national share after $90.8M raised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90672" y="1389888"/>
            <a:ext cx="301752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Spiffy pivoting to dealer SaaS — consumer vacuum created NOW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Spiffy franchise lawsuits (2025) damaging trust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Post-COVID: permanent shift to at-home services (+34%)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adoption creating specialized detailing demand with no network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consolidation of fixed-site washes (Zips bankruptcy) displacing customers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1099 marketplace graveyard proves W2-hybrid timing is right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27064" y="1389888"/>
            <a:ext cx="2606040" cy="2697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marketplace vacuum — Spiffy left it open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funded competitor targeting quality-first consumer segment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Supply-side SaaS angle gives us detailers before demand launch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fleet contracts de-risk chicken-and-egg problem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Affluent suburban Sun Belt markets: untapped, year-round ops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206240"/>
            <a:ext cx="850392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33672"/>
            <a:ext cx="8275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"Perfect storm": Incumbent pivot + franchise lawsuits + post-COVID at-home demand + EV tailwind + no funded quality-first consumer platform = now is the time.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Size: How large is the opportunity?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90672" y="914400"/>
            <a:ext cx="265176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90672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70448" y="914400"/>
            <a:ext cx="2953512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0448" y="914400"/>
            <a:ext cx="2953512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(12-Month Target)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$2.6–3.1B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2075688"/>
            <a:ext cx="26517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 mobile car wash &amp; detailing market (2024)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at 11%+ CAGR to $6.8B by 2030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26517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290M registered vehicles in the US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 of drivers use professional car wash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post-COVID shift to at-home services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App-based bookings: 24.96% CAGR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90672" y="13898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~$420M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090672" y="2075688"/>
            <a:ext cx="26517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App-based premium detailing segment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(full-detail, ceramic, PPF) in top-50 US metros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90672" y="2788920"/>
            <a:ext cx="26517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240+ independent detailers per metro (est.)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services: 11.9% CAGR — fastest-growing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Ceramic coating alone: 14.22% CAGR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affluent Sun Belt suburbs (high AOV)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70448" y="1389888"/>
            <a:ext cx="2953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$540K ARR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870448" y="2075688"/>
            <a:ext cx="2953512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metro launch: 150 consumers/mo × $299 avg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fleet contracts × $5K/mo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70448" y="2788920"/>
            <a:ext cx="2953512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city: 1 affluent Sun Belt metro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 certified detailers recruited via SaaS tools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B2B fleet anchor contracts pre-consumer launch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5–10 metros with Series A ($5–15M)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footprint at Series B ($20–50M)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Competition: Industry Ecosystem &amp; Our Position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868680"/>
                <a:gridCol w="1280160"/>
                <a:gridCol w="169164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Funding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Consumer App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Quality Control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D2B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Spiffy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 + Franchise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$90.8M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(limited)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Inconsistent (lawsuits)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5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Pivoting to B2B SaaS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1099 Marketplace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~$10M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1099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Active, limited geo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MobileWash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1099 Marketplace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(poor UX)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5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(IC lawsuit)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 Hub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1099 Marketplace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cert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Active, growing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Washé / Cherry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1099 Marketplace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$4–5M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A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Shut down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Thumbtack/Yelp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Marketplace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mobile-detail focused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Waxr 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Tier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Uber-grade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1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photo + cert tiers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NOW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F8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20040" y="3749040"/>
            <a:ext cx="8503920" cy="45720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776472"/>
            <a:ext cx="827532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Waxr's position:  Quality-gated hybrid labor model  +  AI-powered operations  +  Uber-grade consumer UX  +  B2B fleet integration = a gap no funded player occupies.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4279392"/>
            <a:ext cx="85039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play: exploit Spiffy's B2B pivot, attack Washos's quality gap, and exploit the post-COVID shift to at-home convenience that no funded platform has yet captured.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Traction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6052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416052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VALIDATION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700784"/>
            <a:ext cx="41605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bookings: $60–$299 per service (25% platform take rate)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fleet subscriptions: $800–$5K/month per fleet account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 subscriptions: $49/month unlimited basic washes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Ceramic &amp; PPF upsells: $500–$2,000 per job (highest margin)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971800"/>
            <a:ext cx="416052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971800"/>
            <a:ext cx="41605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282696"/>
            <a:ext cx="41605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Supply-side SaaS tools: free to build, low marginal cost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Per-job variable costs: detailer pay, supplies, insurance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Fixed: engineering, customer support, marketing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turn positive at ~12 jobs/detailer/day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4507992"/>
            <a:ext cx="4160520" cy="274320"/>
          </a:xfrm>
          <a:prstGeom prst="rect">
            <a:avLst/>
          </a:prstGeom>
          <a:solidFill>
            <a:srgbClr val="E8F8FF"/>
          </a:solidFill>
          <a:ln w="12700">
            <a:solidFill>
              <a:srgbClr val="E8F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507992"/>
            <a:ext cx="41605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Value Proposition for Bars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818888"/>
            <a:ext cx="41605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Yelp charges $90–$600/mo for generic visibility. Washos charges nothing. Waxr charges $49–$299 per job with a 25% take rate — fleet clients pay only for value delivered.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416052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Data Supporting the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700784"/>
            <a:ext cx="41605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Spiffy grew $32M → $87.7M revenue in 4 years — proves W2 model works at scale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MobileWash AI routing pilot: +33% jobs/day (12 → 16) proving tech value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 of US drivers use professional car wash (up from 50% in 1996)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Ceramic coating: $500–$2,000 per job justifies mobile economics vs. $29 basic wash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16052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971800"/>
            <a:ext cx="41605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Incumbents Fail — Our Advantage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282696"/>
            <a:ext cx="41605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inconsistency (34% of reviews) = no AI verification = solved by Waxr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 = poor detailer incentives = solved by our quality-gated tier model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GPS tracking = no engineering focus = solved by Uber-grade location layer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Race-to-bottom pricing = wrong service mix = solved by high-margin upsell catalog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4507992"/>
            <a:ext cx="4160520" cy="274320"/>
          </a:xfrm>
          <a:prstGeom prst="rect">
            <a:avLst/>
          </a:prstGeom>
          <a:solidFill>
            <a:srgbClr val="E8F8FF"/>
          </a:solidFill>
          <a:ln w="12700">
            <a:solidFill>
              <a:srgbClr val="E8F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507992"/>
            <a:ext cx="416052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Milestone (6 months)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818888"/>
            <a:ext cx="41605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 certified detailers onboarded via free SaaS tools  •  3 B2B fleet anchor contracts signed  •  Consumer app beta launched in 1 metro  •  NPS &gt; 60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Why We Are Uniquely Qualified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384048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Go-to-Market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Strategy &amp; Operations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 in service marketplace dynamics. Led customer discovery across 50+ detailers and car owners. Structured the B2B fleet sales model.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450592"/>
            <a:ext cx="265176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50592"/>
            <a:ext cx="26517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724912"/>
            <a:ext cx="265176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business model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sales &amp; fleet contract development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supply-side recruitment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discovery &amp; 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914400"/>
            <a:ext cx="2651760" cy="384048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Product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36392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Platform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36392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 with experience in on-demand logistics systems. Designed the AI-powered route optimization and quality verification architecture.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36392" y="2450592"/>
            <a:ext cx="265176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2450592"/>
            <a:ext cx="26517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36392" y="2724912"/>
            <a:ext cx="265176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GPS tracking &amp; routing (Uber-grade)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photo comparison for quality verification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engine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Supply-side SaaS tool suite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52744" y="914400"/>
            <a:ext cx="2651760" cy="384048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52744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/ Supply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52744" y="1325880"/>
            <a:ext cx="26517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0B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Detailer Network &amp; Quality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52744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detailing professional with industry credibility. Builds the credentialing system, training modules, and manages detailer quality tiers.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52744" y="2450592"/>
            <a:ext cx="265176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52744" y="2450592"/>
            <a:ext cx="2651760" cy="256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Skills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52744" y="2724912"/>
            <a:ext cx="265176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 certification program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Detailer training &amp; onboarding system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 &amp; complaint resolution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insurance partnerships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133088"/>
            <a:ext cx="8503920" cy="292608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60520"/>
            <a:ext cx="1828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of Advisors (Target):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4160520"/>
            <a:ext cx="64008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senior executive from on-demand services (Uber, DoorDash, Handy)  •  1 auto industry leader (dealer group, fleet company)  •  2–3 operators 3–5 years ahead in adjacent service verticals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480560"/>
            <a:ext cx="8503920" cy="219456"/>
          </a:xfrm>
          <a:prstGeom prst="rect">
            <a:avLst/>
          </a:prstGeom>
          <a:solidFill>
            <a:srgbClr val="E8F8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489704"/>
            <a:ext cx="832104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from research: The #1 reason every marketplace failed is supply-side quality neglect. Our entire company architecture is built around solving the detailer first.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&amp; The Ask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93776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493776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4937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25880"/>
                <a:gridCol w="100584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1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1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1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Driver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819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 (Yr 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metro launch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$180K 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anchors + 150 consumer bookings/mo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A (Yr 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5–10 metros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 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marketplace + AI routing live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Series B (Yr 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25+ metros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$5M 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Subscriptions + ceramic/PPF upsell mix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(Yr 4–5)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2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$18–25M ARR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brand + dealer SaaS licensing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94960" y="914400"/>
            <a:ext cx="3429000" cy="43891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914400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389888"/>
            <a:ext cx="342900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0" y="13898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$1.5M  Seed Round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394960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2212848"/>
            <a:ext cx="34290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2523744"/>
            <a:ext cx="502920" cy="3017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2523744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2551176"/>
            <a:ext cx="2788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Supply-side SaaS + detailer onboarding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94960" y="2862072"/>
            <a:ext cx="502920" cy="3017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2862072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2889504"/>
            <a:ext cx="2788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app (Uber-grade tracking, AI QA)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94960" y="3200400"/>
            <a:ext cx="502920" cy="3017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320040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0" y="3227832"/>
            <a:ext cx="2788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fleet sales &amp; 3 anchor contracts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94960" y="3538728"/>
            <a:ext cx="502920" cy="3017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94960" y="353872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3566160"/>
            <a:ext cx="2788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consumer acquisition (1 metro)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94960" y="3877056"/>
            <a:ext cx="502920" cy="301752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94960" y="3877056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43600" y="3904488"/>
            <a:ext cx="2788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insurance, ops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394960" y="4233672"/>
            <a:ext cx="3429000" cy="274320"/>
          </a:xfrm>
          <a:prstGeom prst="rect">
            <a:avLst/>
          </a:prstGeom>
          <a:solidFill>
            <a:srgbClr val="E8F8FF"/>
          </a:solidFill>
          <a:ln w="12700">
            <a:solidFill>
              <a:srgbClr val="E8F8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94960" y="4233672"/>
            <a:ext cx="34290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Milestones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94960" y="4526280"/>
            <a:ext cx="3429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 certified detailers in launch metro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fleet B2B contracts ($2K+/mo each)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app with Uber-grade tracking live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&gt; 60  •  &lt;5% no-show rate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0040" y="3657600"/>
            <a:ext cx="50292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Rationale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20040" y="3968496"/>
            <a:ext cx="5029200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Consumer: $60–$299/job (25% take rate) — 3x higher AOV than basic wash competitors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B2B: $800–$5K/month — ROI-positive vs. in-house ops for any fleet &gt;20 vehicles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Subscription: $49/month for unlimited basic exterior — builds LTV and retention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Upsell: ceramic coating ($500–$2K) at 60%+ gross margin — improves unit economics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" y="621792"/>
            <a:ext cx="1600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621792"/>
            <a:ext cx="1600200" cy="2743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621792"/>
            <a:ext cx="1508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Partners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914400"/>
            <a:ext cx="1508760" cy="29169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(payments &amp; payouts)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 — detailer certifications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 / Element / LeasePlan (fleet API)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insurance provider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GCP infrastructure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parts &amp; supply distributors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Dealership &amp; rental agency networks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621792"/>
            <a:ext cx="1691640" cy="168798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621792"/>
            <a:ext cx="1691640" cy="2743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621792"/>
            <a:ext cx="1600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914400"/>
            <a:ext cx="1600200" cy="13587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Detailer onboarding &amp; certification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quality verification (photos)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&amp; route optimization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fleet sales &amp; contracts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app development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2346350"/>
            <a:ext cx="1691640" cy="152156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346350"/>
            <a:ext cx="1691640" cy="274320"/>
          </a:xfrm>
          <a:prstGeom prst="rect">
            <a:avLst/>
          </a:prstGeom>
          <a:solidFill>
            <a:srgbClr val="08192B"/>
          </a:solidFill>
          <a:ln w="12700">
            <a:solidFill>
              <a:srgbClr val="081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346350"/>
            <a:ext cx="1600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Resources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2638958"/>
            <a:ext cx="1600200" cy="11923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Quality-gated detailer network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photo-QA system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optimization algorithm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consumer trust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data partnerships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29000" y="621792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621792"/>
            <a:ext cx="1965960" cy="2743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621792"/>
            <a:ext cx="1874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914400"/>
            <a:ext cx="1874520" cy="29169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in &lt;60 sec, service at home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Uber-grade real-time GPS tracking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AI-verified quality guarantee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with pause/resume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DETAILERS: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scheduling &amp; invoicing SaaS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tiers = higher pay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insurance per job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/ B2B: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mileage-triggered scheduling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SLA-backed quality + national coverage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40680" y="621792"/>
            <a:ext cx="1691640" cy="168798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621792"/>
            <a:ext cx="1691640" cy="2743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621792"/>
            <a:ext cx="1600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Relationships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914400"/>
            <a:ext cx="1600200" cy="13587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app + in-app chat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fleet account onboarding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quality reports (B2B)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tracking &amp; proactive retention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&amp; detailer profiles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2346350"/>
            <a:ext cx="1691640" cy="152156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2346350"/>
            <a:ext cx="1691640" cy="274320"/>
          </a:xfrm>
          <a:prstGeom prst="rect">
            <a:avLst/>
          </a:prstGeom>
          <a:solidFill>
            <a:srgbClr val="08192B"/>
          </a:solidFill>
          <a:ln w="12700">
            <a:solidFill>
              <a:srgbClr val="081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2346350"/>
            <a:ext cx="1600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2638958"/>
            <a:ext cx="1600200" cy="11923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&amp; Android consumer 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B2B fleet sales team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local search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Detailer word-of-mouth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78040" y="621792"/>
            <a:ext cx="1874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621792"/>
            <a:ext cx="1874520" cy="274320"/>
          </a:xfrm>
          <a:prstGeom prst="rect">
            <a:avLst/>
          </a:prstGeom>
          <a:solidFill>
            <a:srgbClr val="0D2B45"/>
          </a:solidFill>
          <a:ln w="12700">
            <a:solidFill>
              <a:srgbClr val="0D2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621792"/>
            <a:ext cx="17830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914400"/>
            <a:ext cx="1783080" cy="291693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Affluent suburban car owners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Time-poor professionals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owners (specialist care)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/ B2B: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Dealerships (car prep)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agencies (Hertz, Enterprise)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Rideshare fleet operators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fleets (20+ vehicles)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SIDE: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detailers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shop owners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" y="3904488"/>
            <a:ext cx="436168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" y="3904488"/>
            <a:ext cx="4361688" cy="274320"/>
          </a:xfrm>
          <a:prstGeom prst="rect">
            <a:avLst/>
          </a:prstGeom>
          <a:solidFill>
            <a:srgbClr val="08192B"/>
          </a:solidFill>
          <a:ln w="12700">
            <a:solidFill>
              <a:srgbClr val="081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" y="3904488"/>
            <a:ext cx="427024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" y="4197096"/>
            <a:ext cx="4270248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VARIABLE: Detailer pay  •  Supplies reimbursement  •  Per-job insurance  •  Payment processing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FIXED: Engineering  •  Customer support  •  Marketing  •  Cloud infra  •  Legal &amp; compliance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Positive at ~12 jobs/detailer/day  •  10 fleet accounts covers fixed costs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53128" y="3904488"/>
            <a:ext cx="45994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53128" y="3904488"/>
            <a:ext cx="4599432" cy="274320"/>
          </a:xfrm>
          <a:prstGeom prst="rect">
            <a:avLst/>
          </a:prstGeom>
          <a:solidFill>
            <a:srgbClr val="08192B"/>
          </a:solidFill>
          <a:ln w="12700">
            <a:solidFill>
              <a:srgbClr val="081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98848" y="3904488"/>
            <a:ext cx="45079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98848" y="4197096"/>
            <a:ext cx="4507992" cy="6766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take rate on consumer bookings ($60–$299/job)  •  Fleet B2B subscriptions ($800–$5K/month)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subscriptions ($49/month)  •  Ceramic/PPF upsells ($500–$2K, ~60% gross margin)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Waxr — Business Plan</dc:title>
  <dc:subject>PptxGenJS Presentation</dc:subject>
  <dc:creator>PptxGenJS</dc:creator>
  <cp:lastModifiedBy>PptxGenJS</cp:lastModifiedBy>
  <cp:revision>1</cp:revision>
  <dcterms:created xsi:type="dcterms:W3CDTF">2026-03-12T10:04:08Z</dcterms:created>
  <dcterms:modified xsi:type="dcterms:W3CDTF">2026-03-12T10:04:08Z</dcterms:modified>
</cp:coreProperties>
</file>